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failed EDA cost (min)</c:v>
                </c:pt>
              </c:strCache>
            </c:strRef>
          </c:tx>
          <c:spPr>
            <a:solidFill>
              <a:srgbClr val="B34E3A"/>
            </a:solidFill>
          </c:spPr>
          <c:cat>
            <c:strRef>
              <c:f>Sheet1!$A$2:$A$3</c:f>
              <c:strCache>
                <c:ptCount val="2"/>
                <c:pt idx="0">
                  <c:v>EI-only</c:v>
                </c:pt>
                <c:pt idx="1">
                  <c:v>FlowGuard-Calibrated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249.91</c:v>
                </c:pt>
                <c:pt idx="1">
                  <c:v>239.63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70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frame: this is a resource-allocation question. The design, flow, and evaluation budget stay fixed; only the acquisition policy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crossbar oracle is the evidence here: 36 configurations at fixed 19.9 ns, with 6 feasible and 30 failed. Do not import older stress characterization.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product is deliberately simple: expected improvement is discounted when the feasibility model says the physical outcome is unlikely. This is not a hard rejection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authentic PNG and keep provenance separate: the replay is offline and launches zero EDA processes. The image is attached by candidate ID from an earlier banked physical run, with the exact SHA recorded in 06_demo.json.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crossbar protocol is fixed at 19.9 ns with 36 configurations. Each method gets 24 evaluations, including the same eight shared initializations, across 13 seeds. Replay launches no 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the chart and show the editable data. The 10.28 minutes is (14994.8−14378.0) seconds divided by 60. The 4.11 percent is 616.8 divided by 14994.8. All methods tie final QoR; FlowGuard matches EI-only on best-call across all 13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complete crossbar support table. Vanilla has the lowest failed and total EDA means, while the primary endpoint is tied. FlowGuard and EI-only reach the best call identically across all 13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the older TPE layout image from the FlowGuard decision record. The authoritative crossbar result is a replay/oracle process with banked physical outcomes. There is no standalone combined-13 verification log, and older stress evidence is excluded.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exact demo command: python3 experiments/replay_demo.py. It reproduces the trace, not a new physical run. Invite independent hardware confirmation of the separate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109728" cy="658368"/>
          </a:xfrm>
          <a:prstGeom prst="rect">
            <a:avLst/>
          </a:prstGeom>
          <a:solidFill>
            <a:srgbClr val="B34E3A"/>
          </a:solidFill>
          <a:ln>
            <a:solidFill>
              <a:srgbClr val="B3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3891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B34E3A"/>
                </a:solidFill>
                <a:latin typeface="Aptos"/>
              </a:rPr>
              <a:t>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A2523"/>
                </a:solidFill>
                <a:latin typeface="Georgia"/>
              </a:rPr>
              <a:t>Make feasibility a first-class search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635852"/>
                </a:solidFill>
                <a:latin typeface="Aptos"/>
              </a:rPr>
              <a:t>A controlled physical-design experiment about where EDA time goes.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6473952"/>
            <a:ext cx="155448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1">
                <a:solidFill>
                  <a:srgbClr val="635852"/>
                </a:solidFill>
                <a:latin typeface="Aptos"/>
              </a:rPr>
              <a:t>FLOWGUARD  / 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6492240" cy="12344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000" b="0">
                <a:solidFill>
                  <a:srgbClr val="2A2523"/>
                </a:solidFill>
                <a:latin typeface="Georgia"/>
              </a:rPr>
              <a:t>FlowGuard asks a practical question: when every RTL-to-GDS run costs real minutes, can a search policy spend fewer of them on configurations that were never physically viable?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993392"/>
            <a:ext cx="3337560" cy="2148840"/>
          </a:xfrm>
          <a:prstGeom prst="roundRect">
            <a:avLst/>
          </a:prstGeom>
          <a:solidFill>
            <a:srgbClr val="2A2523"/>
          </a:solidFill>
          <a:ln>
            <a:solidFill>
              <a:srgbClr val="2A2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2359152"/>
            <a:ext cx="274320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500" b="1">
                <a:solidFill>
                  <a:srgbClr val="F7F0E6"/>
                </a:solidFill>
                <a:latin typeface="Georgia"/>
              </a:rPr>
              <a:t>EI × P(feasible)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3063240"/>
            <a:ext cx="26517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0">
                <a:solidFill>
                  <a:srgbClr val="EFE4D5"/>
                </a:solidFill>
                <a:latin typeface="Aptos"/>
              </a:rPr>
              <a:t>same budget  /  different allocation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434840"/>
            <a:ext cx="649224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1">
                <a:solidFill>
                  <a:srgbClr val="B34E3A"/>
                </a:solidFill>
                <a:latin typeface="Aptos"/>
              </a:rPr>
              <a:t>The claim is about failed-run compute, not a promise of better final QoR.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6199632"/>
            <a:ext cx="1014984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635852"/>
                </a:solidFill>
                <a:latin typeface="Aptos"/>
              </a:rPr>
              <a:t>Scope: crossbar-v2 / fixed 19.9 ns / 36-config oracle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109728" cy="658368"/>
          </a:xfrm>
          <a:prstGeom prst="rect">
            <a:avLst/>
          </a:prstGeom>
          <a:solidFill>
            <a:srgbClr val="B34E3A"/>
          </a:solidFill>
          <a:ln>
            <a:solidFill>
              <a:srgbClr val="B3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3891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B34E3A"/>
                </a:solidFill>
                <a:latin typeface="Aptos"/>
              </a:rPr>
              <a:t>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A2523"/>
                </a:solidFill>
                <a:latin typeface="Georgia"/>
              </a:rPr>
              <a:t>One crossbar. Two physical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635852"/>
                </a:solidFill>
                <a:latin typeface="Aptos"/>
              </a:rPr>
              <a:t>The 19.9 ns crossbar-v2 boundary is a 36-configuration oracle, not the older stress benchmark.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6473952"/>
            <a:ext cx="155448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1">
                <a:solidFill>
                  <a:srgbClr val="635852"/>
                </a:solidFill>
                <a:latin typeface="Aptos"/>
              </a:rPr>
              <a:t>FLOWGUARD  / 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14984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0">
                <a:solidFill>
                  <a:srgbClr val="2A2523"/>
                </a:solidFill>
                <a:latin typeface="Georgia"/>
              </a:rPr>
              <a:t>Same crossbar, fixed constraints, different outcomes: six feasible configurations and thirty failures.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88920"/>
            <a:ext cx="4892040" cy="1783080"/>
          </a:xfrm>
          <a:prstGeom prst="roundRect">
            <a:avLst/>
          </a:prstGeom>
          <a:solidFill>
            <a:srgbClr val="416C5B"/>
          </a:solidFill>
          <a:ln>
            <a:solidFill>
              <a:srgbClr val="F7F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19" y="3108960"/>
            <a:ext cx="42519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1">
                <a:solidFill>
                  <a:srgbClr val="F7F0E6"/>
                </a:solidFill>
                <a:latin typeface="Aptos"/>
              </a:rPr>
              <a:t>FEASIBLE REGION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3611880"/>
            <a:ext cx="42519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F7F0E6"/>
                </a:solidFill>
                <a:latin typeface="Aptos"/>
              </a:rPr>
              <a:t>6 / 36 · positive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4041648"/>
            <a:ext cx="42519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>
                <a:solidFill>
                  <a:srgbClr val="EFE4D5"/>
                </a:solidFill>
                <a:latin typeface="Aptos"/>
              </a:rPr>
              <a:t>candidate settings → physical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788920"/>
            <a:ext cx="4892040" cy="1783080"/>
          </a:xfrm>
          <a:prstGeom prst="roundRect">
            <a:avLst/>
          </a:prstGeom>
          <a:solidFill>
            <a:srgbClr val="F7E1D8"/>
          </a:solidFill>
          <a:ln>
            <a:solidFill>
              <a:srgbClr val="B3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3108960"/>
            <a:ext cx="42519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1">
                <a:solidFill>
                  <a:srgbClr val="B34E3A"/>
                </a:solidFill>
                <a:latin typeface="Aptos"/>
              </a:rPr>
              <a:t>FAILURE 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3611880"/>
            <a:ext cx="42519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2A2523"/>
                </a:solidFill>
                <a:latin typeface="Aptos"/>
              </a:rPr>
              <a:t>30 / 36 · recorded failures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4041648"/>
            <a:ext cx="42519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>
                <a:solidFill>
                  <a:srgbClr val="635852"/>
                </a:solidFill>
                <a:latin typeface="Aptos"/>
              </a:rPr>
              <a:t>candidate settings → physical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3337560"/>
            <a:ext cx="749808" cy="109728"/>
          </a:xfrm>
          <a:prstGeom prst="rect">
            <a:avLst/>
          </a:prstGeom>
          <a:solidFill>
            <a:srgbClr val="B34E3A"/>
          </a:solidFill>
          <a:ln>
            <a:solidFill>
              <a:srgbClr val="B3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82512" y="3172968"/>
            <a:ext cx="109728" cy="438912"/>
          </a:xfrm>
          <a:prstGeom prst="rect">
            <a:avLst/>
          </a:prstGeom>
          <a:solidFill>
            <a:srgbClr val="B34E3A"/>
          </a:solidFill>
          <a:ln>
            <a:solidFill>
              <a:srgbClr val="B3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4983480"/>
            <a:ext cx="19202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400" b="1">
                <a:solidFill>
                  <a:srgbClr val="B34E3A"/>
                </a:solidFill>
                <a:latin typeface="Georgia"/>
              </a:rPr>
              <a:t>19.9 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6199632"/>
            <a:ext cx="1014984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635852"/>
                </a:solidFill>
                <a:latin typeface="Aptos"/>
              </a:rPr>
              <a:t>Authoritative crossbar-v2 oracle: 36 configs, 6 feasible, 30 failed. Older stress evidence is excluded.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109728" cy="658368"/>
          </a:xfrm>
          <a:prstGeom prst="rect">
            <a:avLst/>
          </a:prstGeom>
          <a:solidFill>
            <a:srgbClr val="B34E3A"/>
          </a:solidFill>
          <a:ln>
            <a:solidFill>
              <a:srgbClr val="B3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3891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B34E3A"/>
                </a:solidFill>
                <a:latin typeface="Aptos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A2523"/>
                </a:solidFill>
                <a:latin typeface="Georgia"/>
              </a:rPr>
              <a:t>Quality plus feasibility, separated on purpose.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635852"/>
                </a:solidFill>
                <a:latin typeface="Aptos"/>
              </a:rPr>
              <a:t>FlowGuard learns what is good only where a run is physically valid—and learns validity from every attempted trial.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6473952"/>
            <a:ext cx="155448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1">
                <a:solidFill>
                  <a:srgbClr val="635852"/>
                </a:solidFill>
                <a:latin typeface="Aptos"/>
              </a:rPr>
              <a:t>FLOWGUARD  /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420624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F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95728"/>
            <a:ext cx="35661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B34E3A"/>
                </a:solidFill>
                <a:latin typeface="Aptos"/>
              </a:rPr>
              <a:t>QUALITY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852928"/>
            <a:ext cx="3566160" cy="3474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000" b="1">
                <a:solidFill>
                  <a:srgbClr val="2A2523"/>
                </a:solidFill>
                <a:latin typeface="Georgia"/>
              </a:rPr>
              <a:t>GP → expected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56432"/>
            <a:ext cx="35661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635852"/>
                </a:solidFill>
                <a:latin typeface="Aptos"/>
              </a:rPr>
              <a:t>trained on feasible trials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2057400"/>
            <a:ext cx="420624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F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2395728"/>
            <a:ext cx="35661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416C5B"/>
                </a:solidFill>
                <a:latin typeface="Aptos"/>
              </a:rPr>
              <a:t>FEASIBILITY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852928"/>
            <a:ext cx="3566160" cy="3474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000" b="1">
                <a:solidFill>
                  <a:srgbClr val="2A2523"/>
                </a:solidFill>
                <a:latin typeface="Georgia"/>
              </a:rPr>
              <a:t>RF → P(feasible)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456432"/>
            <a:ext cx="35661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635852"/>
                </a:solidFill>
                <a:latin typeface="Aptos"/>
              </a:rPr>
              <a:t>trained on all attempted trials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2352" y="2971800"/>
            <a:ext cx="1965960" cy="164592"/>
          </a:xfrm>
          <a:prstGeom prst="rect">
            <a:avLst/>
          </a:prstGeom>
          <a:solidFill>
            <a:srgbClr val="B34E3A"/>
          </a:solidFill>
          <a:ln>
            <a:solidFill>
              <a:srgbClr val="B3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50992" y="3264408"/>
            <a:ext cx="86868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3200" b="1">
                <a:solidFill>
                  <a:srgbClr val="B34E3A"/>
                </a:solidFill>
                <a:latin typeface="Georgia"/>
              </a:rPr>
              <a:t>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5074920"/>
            <a:ext cx="5943600" cy="43891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200" b="1">
                <a:solidFill>
                  <a:srgbClr val="2A2523"/>
                </a:solidFill>
                <a:latin typeface="Georgia"/>
              </a:rPr>
              <a:t>acquisition = EI × P(feasible)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6199632"/>
            <a:ext cx="1014984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635852"/>
                </a:solidFill>
                <a:latin typeface="Aptos"/>
              </a:rPr>
              <a:t>Production objective qor_v1: 0.5 critical delay + 0.3 wirelength + 0.2 cell area (normalized).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109728" cy="658368"/>
          </a:xfrm>
          <a:prstGeom prst="rect">
            <a:avLst/>
          </a:prstGeom>
          <a:solidFill>
            <a:srgbClr val="B34E3A"/>
          </a:solidFill>
          <a:ln>
            <a:solidFill>
              <a:srgbClr val="B3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3891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B34E3A"/>
                </a:solidFill>
                <a:latin typeface="Aptos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A2523"/>
                </a:solidFill>
                <a:latin typeface="Georgia"/>
              </a:rPr>
              <a:t>One decision. One authentic physical artifact.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635852"/>
                </a:solidFill>
                <a:latin typeface="Aptos"/>
              </a:rPr>
              <a:t>Replay selects cb36_002; the layout image comes from its separate banked physical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6473952"/>
            <a:ext cx="155448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1">
                <a:solidFill>
                  <a:srgbClr val="635852"/>
                </a:solidFill>
                <a:latin typeface="Aptos"/>
              </a:rPr>
              <a:t>FLOWGUARD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41605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F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b36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67712"/>
            <a:ext cx="3703320" cy="1143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3611880"/>
            <a:ext cx="370332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0">
                <a:solidFill>
                  <a:srgbClr val="635852"/>
                </a:solidFill>
                <a:latin typeface="Aptos"/>
              </a:rPr>
              <a:t>cb36_002 · SHA-256 35fbbd7e…a12dc5de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70332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B34E3A"/>
                </a:solidFill>
                <a:latin typeface="Aptos"/>
              </a:rPr>
              <a:t>separate-run artifact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938528"/>
            <a:ext cx="6217920" cy="3063240"/>
          </a:xfrm>
          <a:prstGeom prst="roundRect">
            <a:avLst/>
          </a:prstGeom>
          <a:solidFill>
            <a:srgbClr val="2A2523"/>
          </a:solidFill>
          <a:ln>
            <a:solidFill>
              <a:srgbClr val="2A2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04688" y="2267712"/>
            <a:ext cx="54864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F7F0E6"/>
                </a:solidFill>
                <a:latin typeface="Aptos"/>
              </a:rPr>
              <a:t>FlowGuard-Calibrated · seed 11 · call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4688" y="2697480"/>
            <a:ext cx="530352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>
                <a:solidFill>
                  <a:srgbClr val="F7F0E6"/>
                </a:solidFill>
                <a:latin typeface="Georgia"/>
              </a:rPr>
              <a:t>selected cb36_002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4688" y="3310128"/>
            <a:ext cx="5394960" cy="10058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EFE4D5"/>
                </a:solidFill>
                <a:latin typeface="Aptos"/>
              </a:rPr>
              <a:t>EI 0.0 × P(feasible) 0.08 · rank 1 / 27
feasible · QoR −0.093068 · setup +0.190903 ns
DRC 0 · routing 100 · LVS/signoff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6199632"/>
            <a:ext cx="1014984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635852"/>
                </a:solidFill>
                <a:latin typeface="Aptos"/>
              </a:rPr>
              <a:t>Replay launched zero physical runs; PNG is from earlier trial_cb36_002. SHA-256 verified against 06_demo.json.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109728" cy="658368"/>
          </a:xfrm>
          <a:prstGeom prst="rect">
            <a:avLst/>
          </a:prstGeom>
          <a:solidFill>
            <a:srgbClr val="B34E3A"/>
          </a:solidFill>
          <a:ln>
            <a:solidFill>
              <a:srgbClr val="B3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3891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B34E3A"/>
                </a:solidFill>
                <a:latin typeface="Aptos"/>
              </a:rPr>
              <a:t>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A2523"/>
                </a:solidFill>
                <a:latin typeface="Georgia"/>
              </a:rPr>
              <a:t>Freeze the comparison before interpreting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635852"/>
                </a:solidFill>
                <a:latin typeface="Aptos"/>
              </a:rPr>
              <a:t>A matched 24-evaluation replay across 13 seeds and three methods.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6473952"/>
            <a:ext cx="155448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1">
                <a:solidFill>
                  <a:srgbClr val="635852"/>
                </a:solidFill>
                <a:latin typeface="Aptos"/>
              </a:rPr>
              <a:t>FLOWGUARD  /  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057400"/>
          <a:ext cx="10241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315200"/>
              </a:tblGrid>
              <a:tr h="58521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7F0E6"/>
                          </a:solidFill>
                          <a:latin typeface="Aptos"/>
                        </a:rPr>
                        <a:t>Design</a:t>
                      </a:r>
                    </a:p>
                  </a:txBody>
                  <a:tcPr>
                    <a:solidFill>
                      <a:srgbClr val="2A2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2523"/>
                          </a:solidFill>
                          <a:latin typeface="Aptos"/>
                        </a:rPr>
                        <a:t>crossbar_datapath_v2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7F0E6"/>
                          </a:solidFill>
                          <a:latin typeface="Aptos"/>
                        </a:rPr>
                        <a:t>Clock</a:t>
                      </a:r>
                    </a:p>
                  </a:txBody>
                  <a:tcPr>
                    <a:solidFill>
                      <a:srgbClr val="2A2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2523"/>
                          </a:solidFill>
                          <a:latin typeface="Aptos"/>
                        </a:rPr>
                        <a:t>19.9 ns (fixed)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7F0E6"/>
                          </a:solidFill>
                          <a:latin typeface="Aptos"/>
                        </a:rPr>
                        <a:t>Pool</a:t>
                      </a:r>
                    </a:p>
                  </a:txBody>
                  <a:tcPr>
                    <a:solidFill>
                      <a:srgbClr val="2A2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2523"/>
                          </a:solidFill>
                          <a:latin typeface="Aptos"/>
                        </a:rPr>
                        <a:t>36 configurations · 6 / 30 oracle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7F0E6"/>
                          </a:solidFill>
                          <a:latin typeface="Aptos"/>
                        </a:rPr>
                        <a:t>Budget</a:t>
                      </a:r>
                    </a:p>
                  </a:txBody>
                  <a:tcPr>
                    <a:solidFill>
                      <a:srgbClr val="2A2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2523"/>
                          </a:solidFill>
                          <a:latin typeface="Aptos"/>
                        </a:rPr>
                        <a:t>24 evaluations: 8 shared init + 16 adaptive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7F0E6"/>
                          </a:solidFill>
                          <a:latin typeface="Aptos"/>
                        </a:rPr>
                        <a:t>Methods</a:t>
                      </a:r>
                    </a:p>
                  </a:txBody>
                  <a:tcPr>
                    <a:solidFill>
                      <a:srgbClr val="2A2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A2523"/>
                          </a:solidFill>
                          <a:latin typeface="Aptos"/>
                        </a:rPr>
                        <a:t>Vanilla · FlowGuard · EI-only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6656" y="6199632"/>
            <a:ext cx="1014984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635852"/>
                </a:solidFill>
                <a:latin typeface="Aptos"/>
              </a:rPr>
              <a:t>No replay EDA: the bundle replays committed outcomes; physical metrics are banked oracle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109728" cy="658368"/>
          </a:xfrm>
          <a:prstGeom prst="rect">
            <a:avLst/>
          </a:prstGeom>
          <a:solidFill>
            <a:srgbClr val="B34E3A"/>
          </a:solidFill>
          <a:ln>
            <a:solidFill>
              <a:srgbClr val="B3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3891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B34E3A"/>
                </a:solidFill>
                <a:latin typeface="Aptos"/>
              </a:rPr>
              <a:t>HEADLINE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A2523"/>
                </a:solidFill>
                <a:latin typeface="Georgia"/>
              </a:rPr>
              <a:t>Feasibility weighting reduced failed-run compute by 4.1%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635852"/>
                </a:solidFill>
                <a:latin typeface="Aptos"/>
              </a:rPr>
              <a:t>FlowGuard versus matched EI-only search across 13 replay seeds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6473952"/>
            <a:ext cx="155448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1">
                <a:solidFill>
                  <a:srgbClr val="635852"/>
                </a:solidFill>
                <a:latin typeface="Aptos"/>
              </a:rPr>
              <a:t>FLOWGUARD  / 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5156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000" b="1">
                <a:solidFill>
                  <a:srgbClr val="B34E3A"/>
                </a:solidFill>
                <a:latin typeface="Georgia"/>
              </a:rPr>
              <a:t>10.28 fewer minutes spent on failed configurations per replay, on average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14400" y="2331720"/>
          <a:ext cx="621792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26679" y="2450592"/>
            <a:ext cx="3520440" cy="2240280"/>
          </a:xfrm>
          <a:prstGeom prst="roundRect">
            <a:avLst/>
          </a:prstGeom>
          <a:solidFill>
            <a:srgbClr val="2A2523"/>
          </a:solidFill>
          <a:ln>
            <a:solidFill>
              <a:srgbClr val="2A2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65008" y="2788920"/>
            <a:ext cx="283464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3400" b="1">
                <a:solidFill>
                  <a:srgbClr val="F7F0E6"/>
                </a:solidFill>
                <a:latin typeface="Georgia"/>
              </a:rPr>
              <a:t>−4.11%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3529584"/>
            <a:ext cx="29260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00" b="0">
                <a:solidFill>
                  <a:srgbClr val="EFE4D5"/>
                </a:solidFill>
                <a:latin typeface="Aptos"/>
              </a:rPr>
              <a:t>derived: (14994.8−14378.0) / 14994.8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3977639"/>
            <a:ext cx="283464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100" b="0">
                <a:solidFill>
                  <a:srgbClr val="F7F0E6"/>
                </a:solidFill>
                <a:latin typeface="Aptos"/>
              </a:rPr>
              <a:t>same final QoR and best-call outcome; total cost slightly higher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6199632"/>
            <a:ext cx="1014984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635852"/>
                </a:solidFill>
                <a:latin typeface="Aptos"/>
              </a:rPr>
              <a:t>Derived from verified failed means 14994.8 s and 14378.0 s: 616.8 s = 10.28 min. Editable zero-based chart; sequential EDA-runtime estimate.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109728" cy="658368"/>
          </a:xfrm>
          <a:prstGeom prst="rect">
            <a:avLst/>
          </a:prstGeom>
          <a:solidFill>
            <a:srgbClr val="B34E3A"/>
          </a:solidFill>
          <a:ln>
            <a:solidFill>
              <a:srgbClr val="B3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3891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B34E3A"/>
                </a:solidFill>
                <a:latin typeface="Aptos"/>
              </a:rPr>
              <a:t>SUPPORT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A2523"/>
                </a:solidFill>
                <a:latin typeface="Georgia"/>
              </a:rPr>
              <a:t>Three methods. Vanilla spends least.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635852"/>
                </a:solidFill>
                <a:latin typeface="Aptos"/>
              </a:rPr>
              <a:t>Across 13 seeds, all three tie final QoR; cost separates failed and total runtime means.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6473952"/>
            <a:ext cx="155448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1">
                <a:solidFill>
                  <a:srgbClr val="635852"/>
                </a:solidFill>
                <a:latin typeface="Aptos"/>
              </a:rPr>
              <a:t>FLOWGUARD  /  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965960"/>
          <a:ext cx="106984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508760"/>
                <a:gridCol w="1417320"/>
                <a:gridCol w="1828800"/>
                <a:gridCol w="1828800"/>
                <a:gridCol w="1965960"/>
              </a:tblGrid>
              <a:tr h="56007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7F0E6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2A2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7F0E6"/>
                          </a:solidFill>
                        </a:rPr>
                        <a:t>Mean feasible</a:t>
                      </a:r>
                    </a:p>
                  </a:txBody>
                  <a:tcPr>
                    <a:solidFill>
                      <a:srgbClr val="2A2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7F0E6"/>
                          </a:solidFill>
                        </a:rPr>
                        <a:t>Failed EDA mean (s)</a:t>
                      </a:r>
                    </a:p>
                  </a:txBody>
                  <a:tcPr>
                    <a:solidFill>
                      <a:srgbClr val="2A2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7F0E6"/>
                          </a:solidFill>
                        </a:rPr>
                        <a:t>Total EDA mean (s)</a:t>
                      </a:r>
                    </a:p>
                  </a:txBody>
                  <a:tcPr>
                    <a:solidFill>
                      <a:srgbClr val="2A2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7F0E6"/>
                          </a:solidFill>
                        </a:rPr>
                        <a:t>Final QoR</a:t>
                      </a:r>
                    </a:p>
                  </a:txBody>
                  <a:tcPr>
                    <a:solidFill>
                      <a:srgbClr val="2A2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7F0E6"/>
                          </a:solidFill>
                        </a:rPr>
                        <a:t>Best-call</a:t>
                      </a:r>
                    </a:p>
                  </a:txBody>
                  <a:tcPr>
                    <a:solidFill>
                      <a:srgbClr val="2A2523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A2523"/>
                          </a:solidFill>
                          <a:latin typeface="Aptos"/>
                        </a:rPr>
                        <a:t>Vanilla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523"/>
                          </a:solidFill>
                          <a:latin typeface="Aptos"/>
                        </a:rPr>
                        <a:t>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523"/>
                          </a:solidFill>
                          <a:latin typeface="Aptos"/>
                        </a:rPr>
                        <a:t>13046.8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523"/>
                          </a:solidFill>
                          <a:latin typeface="Aptos"/>
                        </a:rPr>
                        <a:t>17230.7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523"/>
                          </a:solidFill>
                          <a:latin typeface="Aptos"/>
                        </a:rPr>
                        <a:t>−0.093068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523"/>
                          </a:solidFill>
                          <a:latin typeface="Aptos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A2523"/>
                          </a:solidFill>
                          <a:latin typeface="Aptos"/>
                        </a:rPr>
                        <a:t>FlowGuard</a:t>
                      </a:r>
                    </a:p>
                  </a:txBody>
                  <a:tcPr>
                    <a:solidFill>
                      <a:srgbClr val="EFE4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523"/>
                          </a:solidFill>
                          <a:latin typeface="Aptos"/>
                        </a:rPr>
                        <a:t>4.38</a:t>
                      </a:r>
                    </a:p>
                  </a:txBody>
                  <a:tcPr>
                    <a:solidFill>
                      <a:srgbClr val="EFE4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523"/>
                          </a:solidFill>
                          <a:latin typeface="Aptos"/>
                        </a:rPr>
                        <a:t>14378.0</a:t>
                      </a:r>
                    </a:p>
                  </a:txBody>
                  <a:tcPr>
                    <a:solidFill>
                      <a:srgbClr val="EFE4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523"/>
                          </a:solidFill>
                          <a:latin typeface="Aptos"/>
                        </a:rPr>
                        <a:t>17307.3</a:t>
                      </a:r>
                    </a:p>
                  </a:txBody>
                  <a:tcPr>
                    <a:solidFill>
                      <a:srgbClr val="EFE4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523"/>
                          </a:solidFill>
                          <a:latin typeface="Aptos"/>
                        </a:rPr>
                        <a:t>−0.093068</a:t>
                      </a:r>
                    </a:p>
                  </a:txBody>
                  <a:tcPr>
                    <a:solidFill>
                      <a:srgbClr val="EFE4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523"/>
                          </a:solidFill>
                          <a:latin typeface="Aptos"/>
                        </a:rPr>
                        <a:t>= EI-only</a:t>
                      </a:r>
                    </a:p>
                  </a:txBody>
                  <a:tcPr>
                    <a:solidFill>
                      <a:srgbClr val="EFE4D5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A2523"/>
                          </a:solidFill>
                          <a:latin typeface="Aptos"/>
                        </a:rPr>
                        <a:t>EI-only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523"/>
                          </a:solidFill>
                          <a:latin typeface="Aptos"/>
                        </a:rPr>
                        <a:t>3.38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523"/>
                          </a:solidFill>
                          <a:latin typeface="Aptos"/>
                        </a:rPr>
                        <a:t>14994.8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523"/>
                          </a:solidFill>
                          <a:latin typeface="Aptos"/>
                        </a:rPr>
                        <a:t>17272.8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523"/>
                          </a:solidFill>
                          <a:latin typeface="Aptos"/>
                        </a:rPr>
                        <a:t>−0.093068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A2523"/>
                          </a:solidFill>
                          <a:latin typeface="Aptos"/>
                        </a:rPr>
                        <a:t>= FlowGuard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4617720"/>
            <a:ext cx="10332720" cy="822960"/>
          </a:xfrm>
          <a:prstGeom prst="roundRect">
            <a:avLst/>
          </a:prstGeom>
          <a:solidFill>
            <a:srgbClr val="EBF5EB"/>
          </a:solidFill>
          <a:ln>
            <a:solidFill>
              <a:srgbClr val="41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846320"/>
            <a:ext cx="97840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1">
                <a:solidFill>
                  <a:srgbClr val="416C5B"/>
                </a:solidFill>
                <a:latin typeface="Aptos"/>
              </a:rPr>
              <a:t>Vanilla is lowest on both failed EDA mean and total EDA mean; final QoR ties three ways.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6199632"/>
            <a:ext cx="1014984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635852"/>
                </a:solidFill>
                <a:latin typeface="Aptos"/>
              </a:rPr>
              <a:t>Means from final_evidence_bundle/03_recomputed_aggregates.json; feasible counts are seed means.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109728" cy="658368"/>
          </a:xfrm>
          <a:prstGeom prst="rect">
            <a:avLst/>
          </a:prstGeom>
          <a:solidFill>
            <a:srgbClr val="B34E3A"/>
          </a:solidFill>
          <a:ln>
            <a:solidFill>
              <a:srgbClr val="B3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3891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B34E3A"/>
                </a:solidFill>
                <a:latin typeface="Aptos"/>
              </a:rPr>
              <a:t>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A2523"/>
                </a:solidFill>
                <a:latin typeface="Georgia"/>
              </a:rPr>
              <a:t>Reproduce the decision, not just the layout.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635852"/>
                </a:solidFill>
                <a:latin typeface="Aptos"/>
              </a:rPr>
              <a:t>Crossbar replay is an oracle/cache process, not a new physical campaign.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6473952"/>
            <a:ext cx="155448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1">
                <a:solidFill>
                  <a:srgbClr val="635852"/>
                </a:solidFill>
                <a:latin typeface="Aptos"/>
              </a:rPr>
              <a:t>FLOWGUARD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49834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F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395728"/>
            <a:ext cx="42062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B34E3A"/>
                </a:solidFill>
                <a:latin typeface="Aptos"/>
              </a:rPr>
              <a:t>Older TPE / layout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944368"/>
            <a:ext cx="420624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2A2523"/>
                </a:solidFill>
                <a:latin typeface="Georgia"/>
              </a:rPr>
              <a:t>physical artifact ≠ decision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703320"/>
            <a:ext cx="42062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635852"/>
                </a:solidFill>
                <a:latin typeface="Aptos"/>
              </a:rPr>
              <a:t>keep separate from crossbar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2057400"/>
            <a:ext cx="4983480" cy="2468880"/>
          </a:xfrm>
          <a:prstGeom prst="roundRect">
            <a:avLst/>
          </a:prstGeom>
          <a:solidFill>
            <a:srgbClr val="2A2523"/>
          </a:solidFill>
          <a:ln>
            <a:solidFill>
              <a:srgbClr val="2A2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9984" y="2395728"/>
            <a:ext cx="42062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F7F0E6"/>
                </a:solidFill>
                <a:latin typeface="Aptos"/>
              </a:rPr>
              <a:t>FlowGuard / decision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9984" y="2944368"/>
            <a:ext cx="420624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F7F0E6"/>
                </a:solidFill>
                <a:latin typeface="Georgia"/>
              </a:rPr>
              <a:t>seed · call · hash · scores · 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9984" y="3703320"/>
            <a:ext cx="42062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EFE4D5"/>
                </a:solidFill>
                <a:latin typeface="Aptos"/>
              </a:rPr>
              <a:t>cb36_002 replay record is traceable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33272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300" b="0">
                <a:solidFill>
                  <a:srgbClr val="635852"/>
                </a:solidFill>
                <a:latin typeface="Aptos"/>
              </a:rPr>
              <a:t>Limitations: no standalone combined-13 verification log; replay/oracle outcomes attach banked physical runs; older stress evidence is excluded.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6199632"/>
            <a:ext cx="1014984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635852"/>
                </a:solidFill>
                <a:latin typeface="Aptos"/>
              </a:rPr>
              <a:t>Bundle facts: 07_FACTS.md and VALIDATION.md. Physical image provenance is explicit on slide 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109728" cy="658368"/>
          </a:xfrm>
          <a:prstGeom prst="rect">
            <a:avLst/>
          </a:prstGeom>
          <a:solidFill>
            <a:srgbClr val="B34E3A"/>
          </a:solidFill>
          <a:ln>
            <a:solidFill>
              <a:srgbClr val="B3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3891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B34E3A"/>
                </a:solidFill>
                <a:latin typeface="Aptos"/>
              </a:rPr>
              <a:t>INVITATION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2A2523"/>
                </a:solidFill>
                <a:latin typeface="Georgia"/>
              </a:rPr>
              <a:t>Reproduce the replay. Then run the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635852"/>
                </a:solidFill>
                <a:latin typeface="Aptos"/>
              </a:rPr>
              <a:t>The crossbar bundle makes the decision traceable; the next step is independent physical confirmation.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5560" y="6473952"/>
            <a:ext cx="155448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800" b="1">
                <a:solidFill>
                  <a:srgbClr val="635852"/>
                </a:solidFill>
                <a:latin typeface="Aptos"/>
              </a:rPr>
              <a:t>FLOWGUARD  / 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6583680" cy="10515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100" b="0">
                <a:solidFill>
                  <a:srgbClr val="2A2523"/>
                </a:solidFill>
                <a:latin typeface="Georgia"/>
              </a:rPr>
              <a:t>Run `python3 experiments/replay_demo.py`, inspect cb36_002, then verify the banked artifact independently.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2011680"/>
            <a:ext cx="3154680" cy="2148840"/>
          </a:xfrm>
          <a:prstGeom prst="roundRect">
            <a:avLst/>
          </a:prstGeom>
          <a:solidFill>
            <a:srgbClr val="B34E3A"/>
          </a:solidFill>
          <a:ln>
            <a:solidFill>
              <a:srgbClr val="B3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468880"/>
            <a:ext cx="25146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1">
                <a:solidFill>
                  <a:srgbClr val="F7F0E6"/>
                </a:solidFill>
                <a:latin typeface="Aptos"/>
              </a:rPr>
              <a:t>REPRODUCE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063240"/>
            <a:ext cx="251460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400" b="1">
                <a:solidFill>
                  <a:srgbClr val="F7F0E6"/>
                </a:solidFill>
                <a:latin typeface="Georgia"/>
              </a:rPr>
              <a:t>then falsify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4251960"/>
            <a:ext cx="1481328" cy="292608"/>
          </a:xfrm>
          <a:prstGeom prst="roundRect">
            <a:avLst/>
          </a:prstGeom>
          <a:solidFill>
            <a:srgbClr val="EFE4D5"/>
          </a:solidFill>
          <a:ln>
            <a:solidFill>
              <a:srgbClr val="EF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02252"/>
            <a:ext cx="1335024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1">
                <a:solidFill>
                  <a:srgbClr val="2A2523"/>
                </a:solidFill>
                <a:latin typeface="Aptos"/>
              </a:rPr>
              <a:t>1  freeze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4251960"/>
            <a:ext cx="1481328" cy="292608"/>
          </a:xfrm>
          <a:prstGeom prst="roundRect">
            <a:avLst/>
          </a:prstGeom>
          <a:solidFill>
            <a:srgbClr val="EFE4D5"/>
          </a:solidFill>
          <a:ln>
            <a:solidFill>
              <a:srgbClr val="EF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4" y="4302252"/>
            <a:ext cx="1335024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1">
                <a:solidFill>
                  <a:srgbClr val="2A2523"/>
                </a:solidFill>
                <a:latin typeface="Aptos"/>
              </a:rPr>
              <a:t>2  run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4251960"/>
            <a:ext cx="1481328" cy="292608"/>
          </a:xfrm>
          <a:prstGeom prst="roundRect">
            <a:avLst/>
          </a:prstGeom>
          <a:solidFill>
            <a:srgbClr val="EFE4D5"/>
          </a:solidFill>
          <a:ln>
            <a:solidFill>
              <a:srgbClr val="EF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4302252"/>
            <a:ext cx="1335024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00" b="1">
                <a:solidFill>
                  <a:srgbClr val="2A2523"/>
                </a:solidFill>
                <a:latin typeface="Aptos"/>
              </a:rPr>
              <a:t>3  inspect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24128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1">
                <a:solidFill>
                  <a:srgbClr val="B34E3A"/>
                </a:solidFill>
                <a:latin typeface="Aptos"/>
              </a:rPr>
              <a:t>Next test: independently reproduce the 13-seed tie and validate the separate physical artifact chain.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6199632"/>
            <a:ext cx="1014984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00" b="0">
                <a:solidFill>
                  <a:srgbClr val="635852"/>
                </a:solidFill>
                <a:latin typeface="Aptos"/>
              </a:rPr>
              <a:t>Command from the crossbar-v2 replay workflow; no replay EDA is launched.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