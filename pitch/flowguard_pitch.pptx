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3E2F25"/>
                </a:solidFill>
                <a:latin typeface="DejaVu Serif"/>
              </a:defRPr>
            </a:pPr>
            <a:r>
              <a:t>FlowGuard: stop burning silicon before it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Feasibility-aware optimization for the open-source SKY130 flow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Frozen 15.8 ns boundary + 5-way shootout · winner QoR 0.103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Winner layout render committed; raw GDS remains server-local — Purdue CHIPSandAI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Every figure from trials.jsonl · rerun-safe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3E2F25"/>
                </a:solidFill>
                <a:latin typeface="DejaVu Serif"/>
              </a:defRPr>
            </a:pPr>
            <a:r>
              <a:t>The wasted-EDA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175 doomed runs burned 7.93 tool-hours for zero data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Failures arrive late, at signoff — after the compute is spent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Blind search re-samples dead regions instead of learning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Exhaustive sweep: 485 runs</a:t>
            </a:r>
          </a:p>
        </p:txBody>
      </p:sp>
      <p:pic>
        <p:nvPicPr>
          <p:cNvPr id="7" name="Picture 6" descr="c09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492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3E2F25"/>
                </a:solidFill>
                <a:latin typeface="DejaVu Serif"/>
              </a:defRPr>
            </a:pPr>
            <a:r>
              <a:t>The FlowGuard idea: EI × P(feasible)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Quality predictor × feasibility classifier — one score per candidate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Calibration only with ≥3 obs/class, else declared uncalibrated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Every pick logged: scores, seeds, hashes, model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No hard risk threshold · audit by replay</a:t>
            </a:r>
          </a:p>
        </p:txBody>
      </p:sp>
      <p:pic>
        <p:nvPicPr>
          <p:cNvPr id="7" name="Picture 6" descr="c00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492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4/12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3E2F25"/>
                </a:solidFill>
                <a:latin typeface="DejaVu Serif"/>
              </a:defRPr>
            </a:pPr>
            <a:r>
              <a:t>A real SKY130 flow, not a toy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LibreLane 3.0.14 · sky130A · 728-cell sensor-MAC stress block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Feasible = SUCCESS + DRC 0 + setup/hold ≥ 0 + route 100% + LVS + signoff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72-candidate pool · 8 shared seeds + 16 adaptive picks per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Frozen 2026-09-16 · QoR weights 0.5 / 0.3 / 0.2</a:t>
            </a:r>
          </a:p>
        </p:txBody>
      </p:sp>
      <p:pic>
        <p:nvPicPr>
          <p:cNvPr id="7" name="Picture 6" descr="c02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492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3E2F25"/>
                </a:solidFill>
                <a:latin typeface="DejaVu Serif"/>
              </a:defRPr>
            </a:pPr>
            <a:r>
              <a:t>The 17/15 cliff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17 ns: 310/325 pass, slack 0.863–1.915 ns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15 ns: 0/160 pass — 159 × TIMING_FAIL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No slope between regimes: hunt the boundary, don't guess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485 sweep runs</a:t>
            </a:r>
          </a:p>
        </p:txBody>
      </p:sp>
      <p:pic>
        <p:nvPicPr>
          <p:cNvPr id="7" name="Picture 6" descr="c01_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492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6/12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3E2F25"/>
                </a:solidFill>
                <a:latin typeface="DejaVu Serif"/>
              </a:defRPr>
            </a:pPr>
            <a:r>
              <a:t>Frozen at 15.8 ns: a living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Hunt 5/8 · diag 11/14 · repeat 3/3 identical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Slack scatters across zero (−0.34 to +0.72 ns): knobs decide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3/3 identical repeats — signal, not tool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Mixed boundary = learnable structure</a:t>
            </a:r>
          </a:p>
        </p:txBody>
      </p:sp>
      <p:pic>
        <p:nvPicPr>
          <p:cNvPr id="7" name="Picture 6" descr="c03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492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7/12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3E2F25"/>
                </a:solidFill>
                <a:latin typeface="DejaVu Serif"/>
              </a:defRPr>
            </a:pPr>
            <a:r>
              <a:t>What matters: padding &amp;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Padding 2 fails far more often than 0/1 at 15.8 ns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AREA 1 + high padding = the diagnostic grid's only failures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Low padding + AREA 0 passes consistently (n=72 @15.8 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A feasibility model should beat blind search here</a:t>
            </a:r>
          </a:p>
        </p:txBody>
      </p:sp>
      <p:pic>
        <p:nvPicPr>
          <p:cNvPr id="7" name="Picture 6" descr="c04_pa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492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8/12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3E2F25"/>
                </a:solidFill>
                <a:latin typeface="DejaVu Serif"/>
              </a:defRPr>
            </a:pPr>
            <a:r>
              <a:t>Five-way shootout: best QoR vs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Vanilla BO &amp; Optuna → 0.103 · FlowGuard raw → 0.103 at adaptive call 11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Random trails at 0.169 · FlowGuard raw recorded (11/16 feasible)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FlowGuard calibrated: NOT STARTED (gated on calibration threshold)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Shared 8 seeds + adaptive · lower is better</a:t>
            </a:r>
          </a:p>
        </p:txBody>
      </p:sp>
      <p:pic>
        <p:nvPicPr>
          <p:cNvPr id="7" name="Picture 6" descr="c05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492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9/12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3E2F25"/>
                </a:solidFill>
                <a:latin typeface="DejaVu Serif"/>
              </a:defRPr>
            </a:pPr>
            <a:r>
              <a:t>Failure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Vanilla BO 16/16 · FlowGuard raw 11/16 · Optuna 13/16 · random 12/16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Shared seeds only 2/8 — this does not support a fewer-failures claim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Every avoided failure returns ~3 min of budget to useful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*PARTIAL — still running; calibrated not started</a:t>
            </a:r>
          </a:p>
        </p:txBody>
      </p:sp>
      <p:pic>
        <p:nvPicPr>
          <p:cNvPr id="7" name="Picture 6" descr="c06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492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3E2F25"/>
                </a:solidFill>
                <a:latin typeface="DejaVu Serif"/>
              </a:defRPr>
            </a:pPr>
            <a:r>
              <a:t>The winner + GDS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Selected cand_014: QoR 0.103 · ws 0.6159 ns · hold 0.1122 ns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15137 µm² · 27229 µm wire · pad 0 / dens 52 / grt 0.2 / AREA 0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No klayout here → metrics panel from signoff data: pitch/renders/FlowGuard-recovery__results__primary-optuna_tpe-v1__runs__trial_primary-optuna_tpe-cand_014__final__gds__tt_um_flowguard_stress.gds.png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GDS embedded as path reference</a:t>
            </a:r>
          </a:p>
        </p:txBody>
      </p:sp>
      <p:pic>
        <p:nvPicPr>
          <p:cNvPr id="7" name="Picture 6" descr="c07_w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492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3E2F25"/>
                </a:solidFill>
                <a:latin typeface="DejaVu Serif"/>
              </a:defRPr>
            </a:pPr>
            <a:r>
              <a:t>One AI decision, fully replayable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Raw call 11: rank 1 of 61 · EI 0.0254 · P(feas) 0.90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Seed 1340 · data 8dfeaf7d3fee… · uncalibrated-rf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Same hash + versions = same pick. Lore-free optimization.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Provenance row in trials.jsonl</a:t>
            </a:r>
          </a:p>
        </p:txBody>
      </p:sp>
      <p:pic>
        <p:nvPicPr>
          <p:cNvPr id="7" name="Picture 6" descr="c08_prov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492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1280160" cy="8229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182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12/12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3E2F25"/>
                </a:solidFill>
                <a:latin typeface="DejaVu Serif"/>
              </a:defRPr>
            </a:pPr>
            <a:r>
              <a:t>Integrity +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Running traces marked recorded · calibrated not started · tile assumed 2×1, unvalidated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Nothing extrapolated or cherry-picked — rerun builder refreshes all numbers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E2F25"/>
                </a:solidFill>
                <a:latin typeface="DejaVu Sans"/>
              </a:defRPr>
            </a:pPr>
            <a:r>
              <a:t>▸  Ask: collaborators + compute — finish calibrated, add a 2nd design, harden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B5B4D"/>
                </a:solidFill>
                <a:latin typeface="DejaVu Sans"/>
              </a:defRPr>
            </a:pPr>
            <a:r>
              <a:t>Come talk: never run a doomed job again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